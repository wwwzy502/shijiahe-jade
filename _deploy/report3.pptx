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0" r:id="rId6"/>
    <p:sldId id="271" r:id="rId7"/>
    <p:sldId id="272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4" r:id="rId16"/>
    <p:sldId id="268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image" Target="../media/image1.png"/><Relationship Id="rId3" Type="http://schemas.openxmlformats.org/officeDocument/2006/relationships/tags" Target="../tags/tag19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18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image" Target="../media/image3.png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image" Target="../media/image2.png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55.xml"/><Relationship Id="rId23" Type="http://schemas.openxmlformats.org/officeDocument/2006/relationships/tags" Target="../tags/tag54.xml"/><Relationship Id="rId22" Type="http://schemas.openxmlformats.org/officeDocument/2006/relationships/tags" Target="../tags/tag53.xml"/><Relationship Id="rId21" Type="http://schemas.openxmlformats.org/officeDocument/2006/relationships/tags" Target="../tags/tag52.xml"/><Relationship Id="rId20" Type="http://schemas.openxmlformats.org/officeDocument/2006/relationships/tags" Target="../tags/tag51.xml"/><Relationship Id="rId2" Type="http://schemas.openxmlformats.org/officeDocument/2006/relationships/tags" Target="../tags/tag33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0" Type="http://schemas.openxmlformats.org/officeDocument/2006/relationships/notesSlide" Target="../notesSlides/notesSlide10.xml"/><Relationship Id="rId2" Type="http://schemas.openxmlformats.org/officeDocument/2006/relationships/tags" Target="../tags/tag57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89.xml"/><Relationship Id="rId15" Type="http://schemas.openxmlformats.org/officeDocument/2006/relationships/tags" Target="../tags/tag88.xml"/><Relationship Id="rId14" Type="http://schemas.openxmlformats.org/officeDocument/2006/relationships/tags" Target="../tags/tag87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3" name="Shape 1"/>
          <p:cNvSpPr/>
          <p:nvPr/>
        </p:nvSpPr>
        <p:spPr>
          <a:xfrm>
            <a:off x="640080" y="914400"/>
            <a:ext cx="914400" cy="18288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52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叩玉</a:t>
            </a:r>
            <a:r>
              <a:rPr lang="en-US" sz="52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·石家河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H5 交互作品选题汇报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743200" cy="10973"/>
          </a:xfrm>
          <a:prstGeom prst="rect">
            <a:avLst/>
          </a:prstGeom>
          <a:solidFill>
            <a:srgbClr val="B8A99A"/>
          </a:solidFill>
        </p:spPr>
      </p:sp>
      <p:sp>
        <p:nvSpPr>
          <p:cNvPr id="7" name="Text 5"/>
          <p:cNvSpPr/>
          <p:nvPr/>
        </p:nvSpPr>
        <p:spPr>
          <a:xfrm>
            <a:off x="640080" y="306324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E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湖北天门 · 石家河文化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从圣火到玉匣 · 四千年文明的交互叙事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汇报人：吴泽远  2026年7月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/ 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目录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64008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143000" y="141732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选题</a:t>
            </a:r>
            <a:r>
              <a:rPr lang="zh-CN" alt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简介与</a:t>
            </a: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背景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石家河文化与长江文明</a:t>
            </a:r>
            <a:endParaRPr lang="en-US" sz="13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754880" y="141732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5257800" y="141732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选题意义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让文物活起来 · 讲好长江文明故事</a:t>
            </a:r>
            <a:endParaRPr lang="en-US" sz="13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594360" y="2122043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1097280" y="2122043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创意构思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从圣火到玉匣的交互叙事线</a:t>
            </a:r>
            <a:endParaRPr lang="en-US" sz="13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709160" y="2122043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5212080" y="2122043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作品流程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漫画三章→玉匣探方→时间轴→证书</a:t>
            </a:r>
            <a:endParaRPr lang="en-US" sz="13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48640" y="290360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1051560" y="2903601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交互设计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刮擦+点击+3D+翻页+拖拽 五种交互</a:t>
            </a:r>
            <a:endParaRPr lang="en-US" sz="13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663440" y="2903601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5166360" y="2903601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视觉设计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考古暖黑 + 古金玉绿配色系统</a:t>
            </a:r>
            <a:endParaRPr lang="en-US" sz="1300" dirty="0"/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548640" y="368579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07</a:t>
            </a:r>
            <a:endParaRPr lang="en-US" sz="18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051560" y="368579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技术路线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HTML5 + Canvas + GSAP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4663440" y="368579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08</a:t>
            </a:r>
            <a:endParaRPr lang="en-US" sz="18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5166360" y="3685794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创新点与进度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差异化亮点 + 团队分工 + 时间规划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13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选题简介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303520" cy="3474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石家河文化 —— 长江中游史前文明之巅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石家河遗址位于湖北省天门市石家河镇，是中国长江中游地区迄今发现规模最大、等级最高、保存最完整的新石器时代聚落遗址，遗址总面积约8平方公里，核心年代距今约6500-4000年。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1954年首次发现至今，70余年的考古发掘出土了大量精美玉器、陶器和青铜器遗存，其中玉凤被誉为「中华第一凤」，玉虎、玉人首等玉器代表了史前东亚最高工艺水平。2017年，石家河遗址入选「全国十大考古新发现」，2021年入选「百年百大考古发现」。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200" b="1" dirty="0">
                <a:solidFill>
                  <a:srgbClr val="6B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核心定位：石家河文化是长江中游史前文明中心，与黄河流域仰韶文化、龙山文化共同构成中华文明多元一体的重要源头。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188720"/>
            <a:ext cx="2377440" cy="914400"/>
          </a:xfrm>
          <a:prstGeom prst="rect">
            <a:avLst/>
          </a:prstGeom>
          <a:solidFill>
            <a:srgbClr val="27272A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37960" y="12344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537960" y="1691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考古发掘年数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2331720"/>
            <a:ext cx="2377440" cy="914400"/>
          </a:xfrm>
          <a:prstGeom prst="rect">
            <a:avLst/>
          </a:prstGeom>
          <a:solidFill>
            <a:srgbClr val="27272A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23774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8km2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37960" y="2834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遗址总面积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474720"/>
            <a:ext cx="2377440" cy="914400"/>
          </a:xfrm>
          <a:prstGeom prst="rect">
            <a:avLst/>
          </a:prstGeom>
          <a:solidFill>
            <a:srgbClr val="27272A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35204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5E3C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200+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37960" y="39776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出土玉器件数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13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选题背景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463040"/>
            <a:ext cx="2468880" cy="265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640080" y="1463040"/>
            <a:ext cx="2468880" cy="54864"/>
          </a:xfrm>
          <a:prstGeom prst="rect">
            <a:avLst/>
          </a:prstGeom>
          <a:solidFill>
            <a:srgbClr val="CA8A04"/>
          </a:solidFill>
        </p:spPr>
      </p:sp>
      <p:pic>
        <p:nvPicPr>
          <p:cNvPr id="6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68680" y="17373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>
            <p:custDataLst>
              <p:tags r:id="rId5"/>
            </p:custDataLst>
          </p:nvPr>
        </p:nvSpPr>
        <p:spPr>
          <a:xfrm>
            <a:off x="1325880" y="171907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考古70年重大发现</a:t>
            </a:r>
            <a:endParaRPr lang="en-US" sz="1500" dirty="0"/>
          </a:p>
        </p:txBody>
      </p:sp>
      <p:sp>
        <p:nvSpPr>
          <p:cNvPr id="8" name="Text 5"/>
          <p:cNvSpPr/>
          <p:nvPr>
            <p:custDataLst>
              <p:tags r:id="rId6"/>
            </p:custDataLst>
          </p:nvPr>
        </p:nvSpPr>
        <p:spPr>
          <a:xfrm>
            <a:off x="868680" y="228600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1954年首次发现至今，肖家屋脊、罗家柏岭、谭家岭等遗址陆续发掘，出土玉器纹饰之精美、工艺之高超，改写了对长江流域史前文明的认知。</a:t>
            </a:r>
            <a:endParaRPr lang="en-US" sz="1400" dirty="0"/>
          </a:p>
        </p:txBody>
      </p:sp>
      <p:sp>
        <p:nvSpPr>
          <p:cNvPr id="9" name="Shape 6"/>
          <p:cNvSpPr/>
          <p:nvPr>
            <p:custDataLst>
              <p:tags r:id="rId7"/>
            </p:custDataLst>
          </p:nvPr>
        </p:nvSpPr>
        <p:spPr>
          <a:xfrm>
            <a:off x="3383280" y="1463040"/>
            <a:ext cx="2468880" cy="265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>
            <p:custDataLst>
              <p:tags r:id="rId8"/>
            </p:custDataLst>
          </p:nvPr>
        </p:nvSpPr>
        <p:spPr>
          <a:xfrm>
            <a:off x="3383280" y="1463040"/>
            <a:ext cx="2468880" cy="54864"/>
          </a:xfrm>
          <a:prstGeom prst="rect">
            <a:avLst/>
          </a:prstGeom>
          <a:solidFill>
            <a:srgbClr val="6B8E5A"/>
          </a:solidFill>
        </p:spPr>
      </p:sp>
      <p:pic>
        <p:nvPicPr>
          <p:cNvPr id="11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611880" y="173736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>
            <p:custDataLst>
              <p:tags r:id="rId11"/>
            </p:custDataLst>
          </p:nvPr>
        </p:nvSpPr>
        <p:spPr>
          <a:xfrm>
            <a:off x="4069080" y="171907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中华文明多元一体</a:t>
            </a:r>
            <a:endParaRPr lang="en-US" sz="1500" dirty="0"/>
          </a:p>
        </p:txBody>
      </p:sp>
      <p:sp>
        <p:nvSpPr>
          <p:cNvPr id="13" name="Text 9"/>
          <p:cNvSpPr/>
          <p:nvPr>
            <p:custDataLst>
              <p:tags r:id="rId12"/>
            </p:custDataLst>
          </p:nvPr>
        </p:nvSpPr>
        <p:spPr>
          <a:xfrm>
            <a:off x="3611880" y="228600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石家河文化以发达的玉器文明、城址聚落和稻作农业，证明了长江流域与黄河流域同为中华文明的核心发源地，是多元一体格局的重要支撑。</a:t>
            </a:r>
            <a:endParaRPr lang="en-US" sz="1400" dirty="0"/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6126480" y="1463040"/>
            <a:ext cx="2468880" cy="265176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>
            <p:custDataLst>
              <p:tags r:id="rId14"/>
            </p:custDataLst>
          </p:nvPr>
        </p:nvSpPr>
        <p:spPr>
          <a:xfrm>
            <a:off x="6126480" y="1463040"/>
            <a:ext cx="2468880" cy="54864"/>
          </a:xfrm>
          <a:prstGeom prst="rect">
            <a:avLst/>
          </a:prstGeom>
          <a:solidFill>
            <a:srgbClr val="8B5E3C"/>
          </a:solidFill>
        </p:spPr>
      </p:sp>
      <p:pic>
        <p:nvPicPr>
          <p:cNvPr id="16" name="Image 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355080" y="17373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>
            <p:custDataLst>
              <p:tags r:id="rId17"/>
            </p:custDataLst>
          </p:nvPr>
        </p:nvSpPr>
        <p:spPr>
          <a:xfrm>
            <a:off x="6812280" y="1719072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数字化传播时代</a:t>
            </a:r>
            <a:endParaRPr lang="en-US" sz="1500" dirty="0"/>
          </a:p>
        </p:txBody>
      </p:sp>
      <p:sp>
        <p:nvSpPr>
          <p:cNvPr id="18" name="Text 13"/>
          <p:cNvSpPr/>
          <p:nvPr>
            <p:custDataLst>
              <p:tags r:id="rId18"/>
            </p:custDataLst>
          </p:nvPr>
        </p:nvSpPr>
        <p:spPr>
          <a:xfrm>
            <a:off x="6355080" y="2286000"/>
            <a:ext cx="201168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国家推动「让文物活起来」文化战略，数字技术为文化遗产传播提供新可能。石家河文化在大众认知度上远不及良渚、三星堆，亟需通过创新方式扩大影响力。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13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选题意义与价值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SIGNIFICANCE &amp; VALUE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141732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1417320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6" name="Text 4"/>
          <p:cNvSpPr/>
          <p:nvPr/>
        </p:nvSpPr>
        <p:spPr>
          <a:xfrm>
            <a:off x="868680" y="15087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文化传承价值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8745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石家河文化作为长江文明的重要代表，其玉器工艺和祭祀文化承载着中华先民的精神世界。通过H5互动形式，让更多年轻人了解并认同长江流域的文明根脉，增强文化自信。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749040" cy="141732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141732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10" name="Text 8"/>
          <p:cNvSpPr/>
          <p:nvPr/>
        </p:nvSpPr>
        <p:spPr>
          <a:xfrm>
            <a:off x="4983480" y="15087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教育科普价值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传统的博物馆展览受限于地理位置和展出时间，H5可以在社交媒体中广泛传播。虚拟考古的体验式学习降低了公众理解考古知识的门槛，激发探索兴趣。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749040" cy="141732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017520"/>
            <a:ext cx="54864" cy="1417320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14" name="Text 12"/>
          <p:cNvSpPr/>
          <p:nvPr/>
        </p:nvSpPr>
        <p:spPr>
          <a:xfrm>
            <a:off x="868680" y="31546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技术创新价值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52044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以Canvas刮擦、序列帧旋转、拖拽拼合等交互技术，探索文物数字化的新表达方式。区别于传统的图文浏览、3D模型展示，提供更具「动手感」的参与体验。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749040" cy="141732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54864" cy="141732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18" name="Text 16"/>
          <p:cNvSpPr/>
          <p:nvPr/>
        </p:nvSpPr>
        <p:spPr>
          <a:xfrm>
            <a:off x="4983480" y="315468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学术传播价值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352044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石家河遗址考古成果丰富但大众认知度低。本作品将考古学知识转化为通俗易懂的互动叙事，搭建学术研究与公众理解之间的桥梁，助力「讲好长江文明故事」。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创意构思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CREATIVE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「从圣火到玉匣」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一场四千年文明的交互叙事之旅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7863840" cy="10973"/>
          </a:xfrm>
          <a:prstGeom prst="rect">
            <a:avLst/>
          </a:prstGeom>
          <a:solidFill>
            <a:srgbClr val="B8A99A"/>
          </a:solidFill>
        </p:spPr>
      </p:sp>
      <p:sp>
        <p:nvSpPr>
          <p:cNvPr id="7" name="Text 5"/>
          <p:cNvSpPr/>
          <p:nvPr/>
        </p:nvSpPr>
        <p:spPr>
          <a:xfrm>
            <a:off x="640080" y="26517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核心叙事线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用户从「圣火仪式」的漫画分镜开始，经历备礼、燃火、宝匣显现三章，玉匣从火焰中浮现后进入地质探方，亲手发掘文物、360°鉴赏，最终穿越七十年考古时光，获得专属考古证书。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设计理念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以「叙事驱动交互」取代「功能堆砌」——漫画渲染情绪、刮擦模拟发掘、3D满足探索、翻页制造节奏。每一段交互服务于故事，而非炫技。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/ 13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内容</a:t>
            </a:r>
            <a:r>
              <a:rPr lang="zh-CN" altLang="en-US" sz="28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框架</a:t>
            </a:r>
            <a:endParaRPr lang="zh-CN" altLang="en-US" sz="2800" b="1" dirty="0">
              <a:solidFill>
                <a:srgbClr val="F0E8D8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CONTENT FRAMEWORK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457200" y="128016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加载动画</a:t>
            </a:r>
            <a:endParaRPr lang="en-US" sz="13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2834640" y="128016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凤凰旋转·进度条</a:t>
            </a:r>
            <a:endParaRPr lang="en-US" sz="11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595630" y="1536319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E5A"/>
                </a:solidFill>
              </a:rPr>
              <a:t>↓</a:t>
            </a:r>
            <a:endParaRPr lang="en-US" sz="10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457200" y="168249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漫画上篇·备礼</a:t>
            </a:r>
            <a:endParaRPr lang="en-US" sz="13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2834640" y="168249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8格分镜·点击展开</a:t>
            </a:r>
            <a:endParaRPr lang="en-US" sz="11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595630" y="1938655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E5A"/>
                </a:solidFill>
              </a:rPr>
              <a:t>↓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457200" y="208483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漫画下篇·燃火</a:t>
            </a:r>
            <a:endParaRPr lang="en-US" sz="13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2834640" y="208483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8格分镜·点击展开</a:t>
            </a:r>
            <a:endParaRPr lang="en-US" sz="11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95630" y="2340991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E5A"/>
                </a:solidFill>
              </a:rPr>
              <a:t>↓</a:t>
            </a:r>
            <a:endParaRPr lang="en-US" sz="10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7200" y="248716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终章·圣火宝匣</a:t>
            </a:r>
            <a:endParaRPr lang="en-US" sz="13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2834640" y="248716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3格+玉匣浮现</a:t>
            </a:r>
            <a:endParaRPr lang="en-US" sz="11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595630" y="2743327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E5A"/>
                </a:solidFill>
              </a:rPr>
              <a:t>↓</a:t>
            </a:r>
            <a:endParaRPr lang="en-US" sz="1000" dirty="0"/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457200" y="2889504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玉匣卷轴</a:t>
            </a:r>
            <a:endParaRPr lang="en-US" sz="13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2834640" y="2889504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石家河文明介绍</a:t>
            </a:r>
            <a:endParaRPr lang="en-US" sz="11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595630" y="3145663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E5A"/>
                </a:solidFill>
              </a:rPr>
              <a:t>↓</a:t>
            </a:r>
            <a:endParaRPr lang="en-US" sz="10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457200" y="329184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地质探方</a:t>
            </a:r>
            <a:endParaRPr lang="en-US" sz="1300" dirty="0"/>
          </a:p>
        </p:txBody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2834640" y="329184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6文物刮擦发掘</a:t>
            </a:r>
            <a:endParaRPr lang="en-US" sz="1100" dirty="0"/>
          </a:p>
        </p:txBody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595630" y="3547999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E5A"/>
                </a:solidFill>
              </a:rPr>
              <a:t>↓</a:t>
            </a:r>
            <a:endParaRPr lang="en-US" sz="10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457200" y="369417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3D鉴赏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2834640" y="36941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真实照片360°旋转</a:t>
            </a:r>
            <a:endParaRPr lang="en-US" sz="1100" dirty="0"/>
          </a:p>
        </p:txBody>
      </p:sp>
      <p:sp>
        <p:nvSpPr>
          <p:cNvPr id="24" name="Text 22"/>
          <p:cNvSpPr/>
          <p:nvPr>
            <p:custDataLst>
              <p:tags r:id="rId21"/>
            </p:custDataLst>
          </p:nvPr>
        </p:nvSpPr>
        <p:spPr>
          <a:xfrm>
            <a:off x="595630" y="3950335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E5A"/>
                </a:solidFill>
              </a:rPr>
              <a:t>↓</a:t>
            </a:r>
            <a:endParaRPr lang="en-US" sz="1000" dirty="0"/>
          </a:p>
        </p:txBody>
      </p:sp>
      <p:sp>
        <p:nvSpPr>
          <p:cNvPr id="25" name="Text 23"/>
          <p:cNvSpPr/>
          <p:nvPr>
            <p:custDataLst>
              <p:tags r:id="rId22"/>
            </p:custDataLst>
          </p:nvPr>
        </p:nvSpPr>
        <p:spPr>
          <a:xfrm>
            <a:off x="457200" y="409651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时间轴</a:t>
            </a:r>
            <a:endParaRPr lang="en-US" sz="1300" dirty="0"/>
          </a:p>
        </p:txBody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2834640" y="409651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七十年考古历程</a:t>
            </a:r>
            <a:endParaRPr lang="en-US" sz="11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595630" y="4352671"/>
            <a:ext cx="3657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E5A"/>
                </a:solidFill>
              </a:rPr>
              <a:t>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4988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考古证书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834640" y="4498848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输入姓名·保存分享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13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漫画三章设计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COMIC CHAPTERS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5720" cy="1005840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6" name="Text 4"/>
          <p:cNvSpPr/>
          <p:nvPr/>
        </p:nvSpPr>
        <p:spPr>
          <a:xfrm>
            <a:off x="685800" y="1463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上篇 · 备礼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8格不规则漫画排版，点击弹出，描叙先民祭祀准备：祭司步入、玉琮礼天、玉璧礼地、玉圭祭祖、火盆静候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514600"/>
            <a:ext cx="45720" cy="100584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10" name="Text 8"/>
          <p:cNvSpPr/>
          <p:nvPr/>
        </p:nvSpPr>
        <p:spPr>
          <a:xfrm>
            <a:off x="685800" y="2606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下篇 · 燃火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926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8格漫画，火焰主题：对天祷告、火星溅起、火焰燃起、凤鸟火光、先民跪拜、仪式完成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57600"/>
            <a:ext cx="45720" cy="1005840"/>
          </a:xfrm>
          <a:prstGeom prst="rect">
            <a:avLst/>
          </a:prstGeom>
          <a:solidFill>
            <a:srgbClr val="8B5E3C"/>
          </a:solidFill>
        </p:spPr>
      </p:sp>
      <p:sp>
        <p:nvSpPr>
          <p:cNvPr id="14" name="Text 12"/>
          <p:cNvSpPr/>
          <p:nvPr/>
        </p:nvSpPr>
        <p:spPr>
          <a:xfrm>
            <a:off x="685800" y="37490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终章 · 圣火宝匣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3格漫画渐隐 → 黑屏 → 玉匣图从中心放大浮现，衔接下一页玉匣开启。上篇/下篇按钮翻页，全部看完才可翻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/ 13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交互设计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INTERACTION DESIGN (5种)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00200" cy="2743200"/>
          </a:xfrm>
          <a:prstGeom prst="rect">
            <a:avLst/>
          </a:prstGeom>
          <a:solidFill>
            <a:srgbClr val="27272A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81328"/>
            <a:ext cx="320040" cy="320040"/>
          </a:xfrm>
          <a:prstGeom prst="ellipse">
            <a:avLst/>
          </a:prstGeom>
          <a:solidFill>
            <a:srgbClr val="6B8E5A">
              <a:alpha val="1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365760" y="14813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刮擦发掘</a:t>
            </a:r>
            <a:endParaRPr lang="en-US" sz="1300" b="1" dirty="0">
              <a:solidFill>
                <a:schemeClr val="bg1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地质探方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14173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Canvas不规则泥土层覆盖古画风文物图，手指擦拭逐渐显现，透明度随刮擦次数渐变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3566160"/>
            <a:ext cx="1417320" cy="27432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11" name="Text 9"/>
          <p:cNvSpPr/>
          <p:nvPr/>
        </p:nvSpPr>
        <p:spPr>
          <a:xfrm>
            <a:off x="365760" y="35661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Canvas + destination-out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600200" cy="27432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03120" y="1481328"/>
            <a:ext cx="320040" cy="320040"/>
          </a:xfrm>
          <a:prstGeom prst="ellipse">
            <a:avLst/>
          </a:prstGeom>
          <a:solidFill>
            <a:srgbClr val="6B8E5A">
              <a:alpha val="15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2103120" y="14813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68880" y="1463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漫画翻页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17190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漫画三章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2011680"/>
            <a:ext cx="14173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点击弹出下一格分镜（缩放弹入动画），全部看完解锁翻页按钮，三章递进叙事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03120" y="3566160"/>
            <a:ext cx="1417320" cy="27432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19" name="Text 17"/>
          <p:cNvSpPr/>
          <p:nvPr/>
        </p:nvSpPr>
        <p:spPr>
          <a:xfrm>
            <a:off x="2103120" y="35661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transition + visibility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749040" y="1371600"/>
            <a:ext cx="1600200" cy="2743200"/>
          </a:xfrm>
          <a:prstGeom prst="rect">
            <a:avLst/>
          </a:prstGeom>
          <a:solidFill>
            <a:srgbClr val="27272A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1481328"/>
            <a:ext cx="320040" cy="320040"/>
          </a:xfrm>
          <a:prstGeom prst="ellipse">
            <a:avLst/>
          </a:prstGeom>
          <a:solidFill>
            <a:srgbClr val="6B8E5A">
              <a:alpha val="15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3840480" y="14813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1463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3D旋转鉴赏</a:t>
            </a:r>
            <a:endParaRPr lang="en-US" sz="1300" b="1" dirty="0">
              <a:solidFill>
                <a:schemeClr val="bg1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206240" y="17190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点击文物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0" y="2011680"/>
            <a:ext cx="14173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真实多角度照片序列帧，拖拽旋转360°查看文物细节，带粒子浮尘背景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840480" y="3566160"/>
            <a:ext cx="1417320" cy="27432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27" name="Text 25"/>
          <p:cNvSpPr/>
          <p:nvPr/>
        </p:nvSpPr>
        <p:spPr>
          <a:xfrm>
            <a:off x="3840480" y="35661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Sequence + Touch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0" y="1371600"/>
            <a:ext cx="1600200" cy="27432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7840" y="1481328"/>
            <a:ext cx="320040" cy="320040"/>
          </a:xfrm>
          <a:prstGeom prst="ellipse">
            <a:avLst/>
          </a:prstGeom>
          <a:solidFill>
            <a:srgbClr val="6B8E5A">
              <a:alpha val="15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5577840" y="14813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1463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时间轴滑动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43600" y="17190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七秩寻踪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2011680"/>
            <a:ext cx="14173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横向时间轴鼠标拖拽+滚轮，节点吸附居中，两侧节点渐变缩小透明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77840" y="3566160"/>
            <a:ext cx="1417320" cy="27432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35" name="Text 33"/>
          <p:cNvSpPr/>
          <p:nvPr/>
        </p:nvSpPr>
        <p:spPr>
          <a:xfrm>
            <a:off x="5577840" y="35661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transform + snap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23760" y="1371600"/>
            <a:ext cx="1600200" cy="2743200"/>
          </a:xfrm>
          <a:prstGeom prst="rect">
            <a:avLst/>
          </a:prstGeom>
          <a:solidFill>
            <a:srgbClr val="27272A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0" y="1481328"/>
            <a:ext cx="320040" cy="320040"/>
          </a:xfrm>
          <a:prstGeom prst="ellipse">
            <a:avLst/>
          </a:prstGeom>
          <a:solidFill>
            <a:srgbClr val="6B8E5A">
              <a:alpha val="15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7315200" y="1481328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8E5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80960" y="14630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证书生成</a:t>
            </a:r>
            <a:endParaRPr lang="en-US" sz="1300" b="1" dirty="0">
              <a:solidFill>
                <a:schemeClr val="bg1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680960" y="171907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文明回响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2011680"/>
            <a:ext cx="14173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Canvas绘制考古证书，用户输入姓名嵌入，一键保存PNG图片分享</a:t>
            </a:r>
            <a:endParaRPr lang="en-US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315200" y="3566160"/>
            <a:ext cx="1417320" cy="274320"/>
          </a:xfrm>
          <a:prstGeom prst="rect">
            <a:avLst/>
          </a:prstGeom>
          <a:solidFill>
            <a:srgbClr val="FAFAFA"/>
          </a:solidFill>
        </p:spPr>
      </p:sp>
      <p:sp>
        <p:nvSpPr>
          <p:cNvPr id="43" name="Text 41"/>
          <p:cNvSpPr/>
          <p:nvPr/>
        </p:nvSpPr>
        <p:spPr>
          <a:xfrm>
            <a:off x="7315200" y="35661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Canvas + toBlob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/ 13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视觉设计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DESIGN</a:t>
            </a:r>
            <a:endParaRPr lang="en-US" sz="11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371600"/>
            <a:ext cx="1188720" cy="640080"/>
          </a:xfrm>
          <a:prstGeom prst="rect">
            <a:avLst/>
          </a:prstGeom>
          <a:solidFill>
            <a:srgbClr val="141210"/>
          </a:solidFill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457200" y="20848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141210</a:t>
            </a:r>
            <a:endParaRPr lang="en-US" sz="8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457200" y="224942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地层黑</a:t>
            </a:r>
            <a:endParaRPr lang="en-US" sz="8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1828800" y="1371600"/>
            <a:ext cx="1188720" cy="640080"/>
          </a:xfrm>
          <a:prstGeom prst="rect">
            <a:avLst/>
          </a:prstGeom>
          <a:solidFill>
            <a:srgbClr val="1E1A16"/>
          </a:solidFill>
        </p:spPr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828800" y="20848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1E1A16</a:t>
            </a:r>
            <a:endParaRPr lang="en-US" sz="8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1828800" y="224942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暖暗</a:t>
            </a:r>
            <a:endParaRPr lang="en-US" sz="8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3200400" y="1371600"/>
            <a:ext cx="1188720" cy="64008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200400" y="20848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6B8E5A</a:t>
            </a:r>
            <a:endParaRPr lang="en-US" sz="8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3200400" y="224942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玉石绿</a:t>
            </a:r>
            <a:endParaRPr lang="en-US" sz="80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572000" y="1371600"/>
            <a:ext cx="1188720" cy="640080"/>
          </a:xfrm>
          <a:prstGeom prst="rect">
            <a:avLst/>
          </a:prstGeom>
          <a:solidFill>
            <a:srgbClr val="BD9B4A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4572000" y="20848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BD9B4A</a:t>
            </a:r>
            <a:endParaRPr lang="en-US" sz="8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4572000" y="224942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古金</a:t>
            </a:r>
            <a:endParaRPr lang="en-US" sz="8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5943600" y="1371600"/>
            <a:ext cx="1188720" cy="640080"/>
          </a:xfrm>
          <a:prstGeom prst="rect">
            <a:avLst/>
          </a:prstGeom>
          <a:solidFill>
            <a:srgbClr val="8B5E3C"/>
          </a:solidFill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5943600" y="20848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8B5E3C</a:t>
            </a:r>
            <a:endParaRPr lang="en-US" sz="8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5943600" y="224942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陶土</a:t>
            </a:r>
            <a:endParaRPr lang="en-US" sz="8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7315200" y="1371600"/>
            <a:ext cx="1188720" cy="640080"/>
          </a:xfrm>
          <a:prstGeom prst="rect">
            <a:avLst/>
          </a:prstGeom>
          <a:solidFill>
            <a:srgbClr val="F0E8D8"/>
          </a:solidFill>
        </p:spPr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7315200" y="20848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F0E8D8</a:t>
            </a:r>
            <a:endParaRPr lang="en-US" sz="800" dirty="0"/>
          </a:p>
        </p:txBody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7315200" y="2249424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羊皮纸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13</a:t>
            </a:r>
            <a:endParaRPr lang="en-US" sz="800" dirty="0"/>
          </a:p>
        </p:txBody>
      </p:sp>
      <p:sp>
        <p:nvSpPr>
          <p:cNvPr id="32" name="Text 20"/>
          <p:cNvSpPr/>
          <p:nvPr/>
        </p:nvSpPr>
        <p:spPr>
          <a:xfrm>
            <a:off x="457200" y="29260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B0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字体系统</a:t>
            </a:r>
            <a:endParaRPr lang="en-US" sz="1600" dirty="0"/>
          </a:p>
        </p:txBody>
      </p:sp>
      <p:sp>
        <p:nvSpPr>
          <p:cNvPr id="33" name="Text 21"/>
          <p:cNvSpPr/>
          <p:nvPr/>
        </p:nvSpPr>
        <p:spPr>
          <a:xfrm>
            <a:off x="457200" y="329184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标题：Georgia (Serif) 36-54pt Bold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古典衬线，传递历史厚重感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正文：Calibri (Sans-serif) 11-13pt Regular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清晰易读，屏幕适配最佳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4572000" y="2926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CB0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设计风格</a:t>
            </a:r>
            <a:endParaRPr lang="en-US" sz="1600" dirty="0"/>
          </a:p>
        </p:txBody>
      </p:sp>
      <p:sp>
        <p:nvSpPr>
          <p:cNvPr id="35" name="Text 23"/>
          <p:cNvSpPr/>
          <p:nvPr/>
        </p:nvSpPr>
        <p:spPr>
          <a:xfrm>
            <a:off x="4572000" y="329184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考古暖黑 (Archaeological Warm Dark)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以考古地层为灵感，深色基底搭配玉石绿与古金，模拟「地下发掘现场」的沉浸氛围。叠加粒子浮尘、噪点纹理、暖光光晕营造考古现场的尘土感与神秘感。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技术路线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22860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2560320" cy="45720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6" name="Text 4"/>
          <p:cNvSpPr/>
          <p:nvPr/>
        </p:nvSpPr>
        <p:spPr>
          <a:xfrm>
            <a:off x="822960" y="15087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HTML5 + CSS3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73152" cy="73152"/>
          </a:xfrm>
          <a:prstGeom prst="ellipse">
            <a:avLst/>
          </a:prstGeom>
          <a:solidFill>
            <a:srgbClr val="CA8A04"/>
          </a:solidFill>
        </p:spPr>
      </p:sp>
      <p:sp>
        <p:nvSpPr>
          <p:cNvPr id="8" name="Text 6"/>
          <p:cNvSpPr/>
          <p:nvPr/>
        </p:nvSpPr>
        <p:spPr>
          <a:xfrm>
            <a:off x="987552" y="19019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语义化结构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313432"/>
            <a:ext cx="73152" cy="73152"/>
          </a:xfrm>
          <a:prstGeom prst="ellipse">
            <a:avLst/>
          </a:prstGeom>
          <a:solidFill>
            <a:srgbClr val="CA8A04"/>
          </a:solidFill>
        </p:spPr>
      </p:sp>
      <p:sp>
        <p:nvSpPr>
          <p:cNvPr id="10" name="Text 8"/>
          <p:cNvSpPr/>
          <p:nvPr/>
        </p:nvSpPr>
        <p:spPr>
          <a:xfrm>
            <a:off x="987552" y="224942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Flexbox/CSS Grid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2660904"/>
            <a:ext cx="73152" cy="73152"/>
          </a:xfrm>
          <a:prstGeom prst="ellipse">
            <a:avLst/>
          </a:prstGeom>
          <a:solidFill>
            <a:srgbClr val="CA8A04"/>
          </a:solidFill>
        </p:spPr>
      </p:sp>
      <p:sp>
        <p:nvSpPr>
          <p:cNvPr id="12" name="Text 10"/>
          <p:cNvSpPr/>
          <p:nvPr/>
        </p:nvSpPr>
        <p:spPr>
          <a:xfrm>
            <a:off x="987552" y="2596896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scroll-snap时间轴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008376"/>
            <a:ext cx="73152" cy="73152"/>
          </a:xfrm>
          <a:prstGeom prst="ellipse">
            <a:avLst/>
          </a:prstGeom>
          <a:solidFill>
            <a:srgbClr val="CA8A04"/>
          </a:solidFill>
        </p:spPr>
      </p:sp>
      <p:sp>
        <p:nvSpPr>
          <p:cNvPr id="14" name="Text 12"/>
          <p:cNvSpPr/>
          <p:nvPr/>
        </p:nvSpPr>
        <p:spPr>
          <a:xfrm>
            <a:off x="987552" y="29443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clip-path异形裁剪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1371600"/>
            <a:ext cx="2560320" cy="22860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29000" y="1371600"/>
            <a:ext cx="2560320" cy="4572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17" name="Text 15"/>
          <p:cNvSpPr/>
          <p:nvPr/>
        </p:nvSpPr>
        <p:spPr>
          <a:xfrm>
            <a:off x="3611880" y="15087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JavaScript ES6+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11880" y="1965960"/>
            <a:ext cx="73152" cy="73152"/>
          </a:xfrm>
          <a:prstGeom prst="ellipse">
            <a:avLst/>
          </a:prstGeom>
          <a:solidFill>
            <a:srgbClr val="6B8E5A"/>
          </a:solidFill>
        </p:spPr>
      </p:sp>
      <p:sp>
        <p:nvSpPr>
          <p:cNvPr id="19" name="Text 17"/>
          <p:cNvSpPr/>
          <p:nvPr/>
        </p:nvSpPr>
        <p:spPr>
          <a:xfrm>
            <a:off x="3776472" y="19019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Canvas刮擦交互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2313432"/>
            <a:ext cx="73152" cy="73152"/>
          </a:xfrm>
          <a:prstGeom prst="ellipse">
            <a:avLst/>
          </a:prstGeom>
          <a:solidFill>
            <a:srgbClr val="6B8E5A"/>
          </a:solidFill>
        </p:spPr>
      </p:sp>
      <p:sp>
        <p:nvSpPr>
          <p:cNvPr id="21" name="Text 19"/>
          <p:cNvSpPr/>
          <p:nvPr/>
        </p:nvSpPr>
        <p:spPr>
          <a:xfrm>
            <a:off x="3776472" y="224942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Touch Events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2660904"/>
            <a:ext cx="73152" cy="73152"/>
          </a:xfrm>
          <a:prstGeom prst="ellipse">
            <a:avLst/>
          </a:prstGeom>
          <a:solidFill>
            <a:srgbClr val="6B8E5A"/>
          </a:solidFill>
        </p:spPr>
      </p:sp>
      <p:sp>
        <p:nvSpPr>
          <p:cNvPr id="23" name="Text 21"/>
          <p:cNvSpPr/>
          <p:nvPr/>
        </p:nvSpPr>
        <p:spPr>
          <a:xfrm>
            <a:off x="3776472" y="2596896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图片序列帧旋转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3008376"/>
            <a:ext cx="73152" cy="73152"/>
          </a:xfrm>
          <a:prstGeom prst="ellipse">
            <a:avLst/>
          </a:prstGeom>
          <a:solidFill>
            <a:srgbClr val="6B8E5A"/>
          </a:solidFill>
        </p:spPr>
      </p:sp>
      <p:sp>
        <p:nvSpPr>
          <p:cNvPr id="25" name="Text 23"/>
          <p:cNvSpPr/>
          <p:nvPr/>
        </p:nvSpPr>
        <p:spPr>
          <a:xfrm>
            <a:off x="3776472" y="29443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Canvas证书生成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371600"/>
            <a:ext cx="2560320" cy="2286000"/>
          </a:xfrm>
          <a:prstGeom prst="rect">
            <a:avLst/>
          </a:prstGeom>
          <a:solidFill>
            <a:srgbClr val="FFFFFF"/>
          </a:solidFill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371600"/>
            <a:ext cx="2560320" cy="45720"/>
          </a:xfrm>
          <a:prstGeom prst="rect">
            <a:avLst/>
          </a:prstGeom>
          <a:solidFill>
            <a:srgbClr val="8B5E3C"/>
          </a:solidFill>
        </p:spPr>
      </p:sp>
      <p:sp>
        <p:nvSpPr>
          <p:cNvPr id="28" name="Text 26"/>
          <p:cNvSpPr/>
          <p:nvPr/>
        </p:nvSpPr>
        <p:spPr>
          <a:xfrm>
            <a:off x="6400800" y="150876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动画与视差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1965960"/>
            <a:ext cx="73152" cy="73152"/>
          </a:xfrm>
          <a:prstGeom prst="ellipse">
            <a:avLst/>
          </a:prstGeom>
          <a:solidFill>
            <a:srgbClr val="8B5E3C"/>
          </a:solidFill>
        </p:spPr>
      </p:sp>
      <p:sp>
        <p:nvSpPr>
          <p:cNvPr id="30" name="Text 28"/>
          <p:cNvSpPr/>
          <p:nvPr/>
        </p:nvSpPr>
        <p:spPr>
          <a:xfrm>
            <a:off x="6565392" y="190195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页面过渡动画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0" y="2313432"/>
            <a:ext cx="73152" cy="73152"/>
          </a:xfrm>
          <a:prstGeom prst="ellipse">
            <a:avLst/>
          </a:prstGeom>
          <a:solidFill>
            <a:srgbClr val="8B5E3C"/>
          </a:solidFill>
        </p:spPr>
      </p:sp>
      <p:sp>
        <p:nvSpPr>
          <p:cNvPr id="32" name="Text 30"/>
          <p:cNvSpPr/>
          <p:nvPr/>
        </p:nvSpPr>
        <p:spPr>
          <a:xfrm>
            <a:off x="6565392" y="2249424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祥云视差滚动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2660904"/>
            <a:ext cx="73152" cy="73152"/>
          </a:xfrm>
          <a:prstGeom prst="ellipse">
            <a:avLst/>
          </a:prstGeom>
          <a:solidFill>
            <a:srgbClr val="8B5E3C"/>
          </a:solidFill>
        </p:spPr>
      </p:sp>
      <p:sp>
        <p:nvSpPr>
          <p:cNvPr id="34" name="Text 32"/>
          <p:cNvSpPr/>
          <p:nvPr/>
        </p:nvSpPr>
        <p:spPr>
          <a:xfrm>
            <a:off x="6565392" y="2596896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粒子浮尘效果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008376"/>
            <a:ext cx="73152" cy="73152"/>
          </a:xfrm>
          <a:prstGeom prst="ellipse">
            <a:avLst/>
          </a:prstGeom>
          <a:solidFill>
            <a:srgbClr val="8B5E3C"/>
          </a:solidFill>
        </p:spPr>
      </p:sp>
      <p:sp>
        <p:nvSpPr>
          <p:cNvPr id="36" name="Text 34"/>
          <p:cNvSpPr/>
          <p:nvPr/>
        </p:nvSpPr>
        <p:spPr>
          <a:xfrm>
            <a:off x="6565392" y="29443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分镜弹入动画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移动端适配：微信/Safari/Chrome · 响应式375-768px · 触摸优化44px热区 · file://兼容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13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创新点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INNOVATION</a:t>
            </a:r>
            <a:endParaRPr lang="en-US" sz="11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457200" y="13716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1005840" y="1417320"/>
            <a:ext cx="10973" cy="59436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188720" y="1371600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叙事驱动交互</a:t>
            </a:r>
            <a:endParaRPr lang="en-US" sz="15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188720" y="16459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漫画渲染情绪→刮擦模拟发掘→3D满足探索→翻页制造节奏。交互服务于故事线，而非功能罗列</a:t>
            </a:r>
            <a:endParaRPr lang="en-US" sz="11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57200" y="217627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1005840" y="2221992"/>
            <a:ext cx="10973" cy="594360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1188720" y="217627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复合交互形式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1188720" y="245059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五种差异化交互：刮擦+翻页+3D旋转+时间轴+证书，每种交互匹配特定内容场景，体验丰富且不重复</a:t>
            </a:r>
            <a:endParaRPr lang="en-US" sz="11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57200" y="298094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1005840" y="3026664"/>
            <a:ext cx="10973" cy="59436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188720" y="2980944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文化沉浸感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1188720" y="3255264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祥云多层视差+考古暖黑配色+古画风文物图+卷轴UI，从视觉到交互统一营造「考古现场」的沉浸氛围</a:t>
            </a:r>
            <a:endParaRPr lang="en-US" sz="1100" dirty="0"/>
          </a:p>
        </p:txBody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457200" y="378561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8A04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1005840" y="3831336"/>
            <a:ext cx="10973" cy="594360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188720" y="3785616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石家河首次H5化</a:t>
            </a:r>
            <a:endParaRPr lang="en-US" sz="15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1188720" y="4059936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填补石家河文化在交互数字产品领域的空白，以长江中游史前文明中心定位差异化切入文博H5赛道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进度计划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64592" cy="164592"/>
          </a:xfrm>
          <a:prstGeom prst="ellipse">
            <a:avLst/>
          </a:prstGeom>
          <a:solidFill>
            <a:srgbClr val="CA8A04"/>
          </a:solidFill>
        </p:spPr>
      </p:sp>
      <p:sp>
        <p:nvSpPr>
          <p:cNvPr id="5" name="Shape 3"/>
          <p:cNvSpPr/>
          <p:nvPr/>
        </p:nvSpPr>
        <p:spPr>
          <a:xfrm>
            <a:off x="800100" y="1554480"/>
            <a:ext cx="22860" cy="347472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6" name="Text 4"/>
          <p:cNvSpPr/>
          <p:nvPr/>
        </p:nvSpPr>
        <p:spPr>
          <a:xfrm>
            <a:off x="1097280" y="125272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6/30 - 7/1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25272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选题汇报PPT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25272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确定选题方向、完成选题汇报PPT制作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164592" cy="164592"/>
          </a:xfrm>
          <a:prstGeom prst="ellipse">
            <a:avLst/>
          </a:prstGeom>
          <a:solidFill>
            <a:srgbClr val="8B5E3C"/>
          </a:solidFill>
        </p:spPr>
      </p:sp>
      <p:sp>
        <p:nvSpPr>
          <p:cNvPr id="10" name="Shape 8"/>
          <p:cNvSpPr/>
          <p:nvPr/>
        </p:nvSpPr>
        <p:spPr>
          <a:xfrm>
            <a:off x="800100" y="2176272"/>
            <a:ext cx="22860" cy="347472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11" name="Text 9"/>
          <p:cNvSpPr/>
          <p:nvPr/>
        </p:nvSpPr>
        <p:spPr>
          <a:xfrm>
            <a:off x="1097280" y="18745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E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7/2 - 7/3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8745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信息搜集Word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18745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搜集石家河文化资料、文物素材、撰写信息搜集文档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615184"/>
            <a:ext cx="164592" cy="164592"/>
          </a:xfrm>
          <a:prstGeom prst="ellipse">
            <a:avLst/>
          </a:prstGeom>
          <a:solidFill>
            <a:srgbClr val="888888"/>
          </a:solidFill>
        </p:spPr>
      </p:sp>
      <p:sp>
        <p:nvSpPr>
          <p:cNvPr id="15" name="Shape 13"/>
          <p:cNvSpPr/>
          <p:nvPr/>
        </p:nvSpPr>
        <p:spPr>
          <a:xfrm>
            <a:off x="800100" y="2798064"/>
            <a:ext cx="22860" cy="347472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16" name="Text 14"/>
          <p:cNvSpPr/>
          <p:nvPr/>
        </p:nvSpPr>
        <p:spPr>
          <a:xfrm>
            <a:off x="1097280" y="249631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7/4 - 7/5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2496312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/>
              <a:t>制作</a:t>
            </a:r>
            <a:endParaRPr lang="zh-CN" alt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2496312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/>
              <a:t>着手制作</a:t>
            </a:r>
            <a:r>
              <a:rPr lang="en-US" altLang="zh-CN" sz="1100" dirty="0"/>
              <a:t>H5</a:t>
            </a:r>
            <a:endParaRPr lang="en-US" altLang="zh-CN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236976"/>
            <a:ext cx="164592" cy="164592"/>
          </a:xfrm>
          <a:prstGeom prst="ellipse">
            <a:avLst/>
          </a:prstGeom>
          <a:solidFill>
            <a:srgbClr val="6B8E5A"/>
          </a:solidFill>
        </p:spPr>
      </p:sp>
      <p:sp>
        <p:nvSpPr>
          <p:cNvPr id="20" name="Shape 18"/>
          <p:cNvSpPr/>
          <p:nvPr/>
        </p:nvSpPr>
        <p:spPr>
          <a:xfrm>
            <a:off x="800100" y="3419856"/>
            <a:ext cx="22860" cy="347472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21" name="Text 19"/>
          <p:cNvSpPr/>
          <p:nvPr/>
        </p:nvSpPr>
        <p:spPr>
          <a:xfrm>
            <a:off x="1097280" y="311810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8E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7/6 - 7/7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68880" y="3118104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展示初稿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118104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完成H5全部6个场景的初稿开发与内部展示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858768"/>
            <a:ext cx="164592" cy="164592"/>
          </a:xfrm>
          <a:prstGeom prst="ellipse">
            <a:avLst/>
          </a:prstGeom>
          <a:solidFill>
            <a:srgbClr val="CA8A04"/>
          </a:solidFill>
        </p:spPr>
      </p:sp>
      <p:sp>
        <p:nvSpPr>
          <p:cNvPr id="25" name="Shape 23"/>
          <p:cNvSpPr/>
          <p:nvPr/>
        </p:nvSpPr>
        <p:spPr>
          <a:xfrm>
            <a:off x="800100" y="4041648"/>
            <a:ext cx="22860" cy="347472"/>
          </a:xfrm>
          <a:prstGeom prst="rect">
            <a:avLst/>
          </a:prstGeom>
          <a:solidFill>
            <a:srgbClr val="DDDDDD"/>
          </a:solidFill>
        </p:spPr>
      </p:sp>
      <p:sp>
        <p:nvSpPr>
          <p:cNvPr id="26" name="Text 24"/>
          <p:cNvSpPr/>
          <p:nvPr/>
        </p:nvSpPr>
        <p:spPr>
          <a:xfrm>
            <a:off x="1097280" y="373989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7/8 - 7/9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373989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作品汇报PPT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3739896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基于初稿反馈优化作品、完成作品汇报PPT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480560"/>
            <a:ext cx="164592" cy="164592"/>
          </a:xfrm>
          <a:prstGeom prst="ellipse">
            <a:avLst/>
          </a:prstGeom>
          <a:solidFill>
            <a:srgbClr val="8B5E3C"/>
          </a:solidFill>
        </p:spPr>
      </p:sp>
      <p:sp>
        <p:nvSpPr>
          <p:cNvPr id="30" name="Text 28"/>
          <p:cNvSpPr/>
          <p:nvPr/>
        </p:nvSpPr>
        <p:spPr>
          <a:xfrm>
            <a:off x="1097280" y="436168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E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68880" y="4361688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181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提交最终作品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0" y="436168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D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整合所有产出，打包提交期末作品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6B8E5A"/>
          </a:solidFill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0E8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谢谢聆听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371600" cy="18288"/>
          </a:xfrm>
          <a:prstGeom prst="rect">
            <a:avLst/>
          </a:prstGeom>
          <a:solidFill>
            <a:srgbClr val="CA8A04"/>
          </a:solidFill>
        </p:spPr>
      </p:sp>
      <p:sp>
        <p:nvSpPr>
          <p:cNvPr id="5" name="Text 3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叩</a:t>
            </a:r>
            <a:r>
              <a:rPr lang="en-US" sz="14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玉·石家河 — 从圣火到玉匣，四千年文明的交互叙事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8A0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吴泽远 · 2026年7月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663440"/>
            <a:ext cx="914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A9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13</a:t>
            </a:r>
            <a:endParaRPr lang="en-US" sz="8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2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3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4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5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6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7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8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9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10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11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12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13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14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15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16.xml><?xml version="1.0" encoding="utf-8"?>
<p:tagLst xmlns:p="http://schemas.openxmlformats.org/presentationml/2006/main">
  <p:tag name="KSO_WM_DIAGRAM_VIRTUALLY_FRAME" val="{&quot;height&quot;:208.85999999999999,&quot;left&quot;:43.2,&quot;top&quot;:111.6,&quot;width&quot;:633.05}"/>
</p:tagLst>
</file>

<file path=ppt/tags/tag17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18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19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0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1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2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3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4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5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6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7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8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29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30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31.xml><?xml version="1.0" encoding="utf-8"?>
<p:tagLst xmlns:p="http://schemas.openxmlformats.org/presentationml/2006/main">
  <p:tag name="KSO_WM_DIAGRAM_VIRTUALLY_FRAME" val="{&quot;height&quot;:208.8,&quot;left&quot;:50.4,&quot;top&quot;:115.2,&quot;width&quot;:626.4}"/>
</p:tagLst>
</file>

<file path=ppt/tags/tag32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33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34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35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36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37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38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39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0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1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2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3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4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5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6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7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8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49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50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51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52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53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54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55.xml><?xml version="1.0" encoding="utf-8"?>
<p:tagLst xmlns:p="http://schemas.openxmlformats.org/presentationml/2006/main">
  <p:tag name="KSO_WM_DIAGRAM_VIRTUALLY_FRAME" val="{&quot;height&quot;:254.88999999999996,&quot;left&quot;:36,&quot;top&quot;:100.8,&quot;width&quot;:475.2}"/>
</p:tagLst>
</file>

<file path=ppt/tags/tag56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57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58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59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0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1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2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3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4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5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6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7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8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69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70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71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72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73.xml><?xml version="1.0" encoding="utf-8"?>
<p:tagLst xmlns:p="http://schemas.openxmlformats.org/presentationml/2006/main">
  <p:tag name="KSO_WM_DIAGRAM_VIRTUALLY_FRAME" val="{&quot;height&quot;:82.08,&quot;left&quot;:36,&quot;top&quot;:108,&quot;width&quot;:633.6}"/>
</p:tagLst>
</file>

<file path=ppt/tags/tag74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75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76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77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78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79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0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1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2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3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4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5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6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7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8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ags/tag89.xml><?xml version="1.0" encoding="utf-8"?>
<p:tagLst xmlns:p="http://schemas.openxmlformats.org/presentationml/2006/main">
  <p:tag name="KSO_WM_DIAGRAM_VIRTUALLY_FRAME" val="{&quot;height&quot;:240.48000000000002,&quot;left&quot;:36,&quot;top&quot;:108,&quot;width&quot;:597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3094</Words>
  <Application>WPS 演示</Application>
  <PresentationFormat>On-screen Show (16:9)</PresentationFormat>
  <Paragraphs>436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Calibri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玉见·石家河 — 选题汇报</dc:title>
  <dc:creator>吴泽远</dc:creator>
  <dc:subject>PptxGenJS Presentation</dc:subject>
  <cp:lastModifiedBy>微信用户</cp:lastModifiedBy>
  <cp:revision>5</cp:revision>
  <dcterms:created xsi:type="dcterms:W3CDTF">2026-07-01T03:07:00Z</dcterms:created>
  <dcterms:modified xsi:type="dcterms:W3CDTF">2026-07-01T07:27:13Z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C24D6C1F9EC44B18BD29388D47294743_12</vt:lpwstr>
  </property>
</Properties>
</file>